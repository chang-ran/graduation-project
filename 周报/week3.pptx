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8" r:id="rId9"/>
    <p:sldId id="259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3" autoAdjust="0"/>
    <p:restoredTop sz="94660"/>
  </p:normalViewPr>
  <p:slideViewPr>
    <p:cSldViewPr snapToGrid="0">
      <p:cViewPr varScale="1">
        <p:scale>
          <a:sx n="59" d="100"/>
          <a:sy n="59" d="100"/>
        </p:scale>
        <p:origin x="8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B9F3-D788-4182-909C-946D2ACF5FD4}" type="datetimeFigureOut">
              <a:rPr lang="zh-CN" altLang="en-US" smtClean="0"/>
              <a:t>2020/12/16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A8D1-DA30-4DB6-979A-4DB5BFF767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4508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B9F3-D788-4182-909C-946D2ACF5FD4}" type="datetimeFigureOut">
              <a:rPr lang="zh-CN" altLang="en-US" smtClean="0"/>
              <a:t>2020/12/16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A8D1-DA30-4DB6-979A-4DB5BFF767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895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B9F3-D788-4182-909C-946D2ACF5FD4}" type="datetimeFigureOut">
              <a:rPr lang="zh-CN" altLang="en-US" smtClean="0"/>
              <a:t>2020/12/16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A8D1-DA30-4DB6-979A-4DB5BFF767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3625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B9F3-D788-4182-909C-946D2ACF5FD4}" type="datetimeFigureOut">
              <a:rPr lang="zh-CN" altLang="en-US" smtClean="0"/>
              <a:t>2020/12/16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A8D1-DA30-4DB6-979A-4DB5BFF767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206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B9F3-D788-4182-909C-946D2ACF5FD4}" type="datetimeFigureOut">
              <a:rPr lang="zh-CN" altLang="en-US" smtClean="0"/>
              <a:t>2020/12/16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A8D1-DA30-4DB6-979A-4DB5BFF767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315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B9F3-D788-4182-909C-946D2ACF5FD4}" type="datetimeFigureOut">
              <a:rPr lang="zh-CN" altLang="en-US" smtClean="0"/>
              <a:t>2020/12/16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A8D1-DA30-4DB6-979A-4DB5BFF767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003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B9F3-D788-4182-909C-946D2ACF5FD4}" type="datetimeFigureOut">
              <a:rPr lang="zh-CN" altLang="en-US" smtClean="0"/>
              <a:t>2020/12/16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A8D1-DA30-4DB6-979A-4DB5BFF767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535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B9F3-D788-4182-909C-946D2ACF5FD4}" type="datetimeFigureOut">
              <a:rPr lang="zh-CN" altLang="en-US" smtClean="0"/>
              <a:t>2020/12/16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A8D1-DA30-4DB6-979A-4DB5BFF767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923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B9F3-D788-4182-909C-946D2ACF5FD4}" type="datetimeFigureOut">
              <a:rPr lang="zh-CN" altLang="en-US" smtClean="0"/>
              <a:t>2020/12/16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A8D1-DA30-4DB6-979A-4DB5BFF767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34779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B9F3-D788-4182-909C-946D2ACF5FD4}" type="datetimeFigureOut">
              <a:rPr lang="zh-CN" altLang="en-US" smtClean="0"/>
              <a:t>2020/12/16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A8D1-DA30-4DB6-979A-4DB5BFF767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513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1B9F3-D788-4182-909C-946D2ACF5FD4}" type="datetimeFigureOut">
              <a:rPr lang="zh-CN" altLang="en-US" smtClean="0"/>
              <a:t>2020/12/16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2A8D1-DA30-4DB6-979A-4DB5BFF767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549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41B9F3-D788-4182-909C-946D2ACF5FD4}" type="datetimeFigureOut">
              <a:rPr lang="zh-CN" altLang="en-US" smtClean="0"/>
              <a:t>2020/12/16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D2A8D1-DA30-4DB6-979A-4DB5BFF7672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309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 Week3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5233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476242"/>
            <a:ext cx="1940011" cy="2298357"/>
            <a:chOff x="333632" y="2014151"/>
            <a:chExt cx="1940011" cy="2298357"/>
          </a:xfrm>
        </p:grpSpPr>
        <p:sp>
          <p:nvSpPr>
            <p:cNvPr id="6" name="矩形 5"/>
            <p:cNvSpPr/>
            <p:nvPr/>
          </p:nvSpPr>
          <p:spPr>
            <a:xfrm>
              <a:off x="333632" y="2014151"/>
              <a:ext cx="1940011" cy="229835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573" y="2254226"/>
              <a:ext cx="1334530" cy="1779373"/>
            </a:xfrm>
            <a:prstGeom prst="rect">
              <a:avLst/>
            </a:prstGeom>
          </p:spPr>
        </p:pic>
      </p:grpSp>
      <p:cxnSp>
        <p:nvCxnSpPr>
          <p:cNvPr id="11" name="直接箭头连接符 10"/>
          <p:cNvCxnSpPr>
            <a:stCxn id="6" idx="3"/>
          </p:cNvCxnSpPr>
          <p:nvPr/>
        </p:nvCxnSpPr>
        <p:spPr>
          <a:xfrm>
            <a:off x="1940011" y="1625421"/>
            <a:ext cx="764000" cy="595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982551" y="1302254"/>
            <a:ext cx="186376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标注数据（舌体位置、裂痕位置）</a:t>
            </a:r>
            <a:endParaRPr lang="zh-CN" altLang="en-US" dirty="0"/>
          </a:p>
        </p:txBody>
      </p:sp>
      <p:sp>
        <p:nvSpPr>
          <p:cNvPr id="32" name="文本框 31"/>
          <p:cNvSpPr txBox="1"/>
          <p:nvPr/>
        </p:nvSpPr>
        <p:spPr>
          <a:xfrm>
            <a:off x="5567198" y="1163754"/>
            <a:ext cx="1846353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构造语义分割中的深度学习模型提取出舌体</a:t>
            </a:r>
            <a:endParaRPr lang="zh-CN" altLang="en-US" dirty="0"/>
          </a:p>
        </p:txBody>
      </p:sp>
      <p:sp>
        <p:nvSpPr>
          <p:cNvPr id="33" name="文本框 32"/>
          <p:cNvSpPr txBox="1"/>
          <p:nvPr/>
        </p:nvSpPr>
        <p:spPr>
          <a:xfrm>
            <a:off x="8752047" y="1625419"/>
            <a:ext cx="1593669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分离舌质舌苔，并对其颜色特征进行分类</a:t>
            </a:r>
            <a:endParaRPr lang="zh-CN" altLang="en-US" dirty="0"/>
          </a:p>
        </p:txBody>
      </p:sp>
      <p:sp>
        <p:nvSpPr>
          <p:cNvPr id="34" name="文本框 33"/>
          <p:cNvSpPr txBox="1"/>
          <p:nvPr/>
        </p:nvSpPr>
        <p:spPr>
          <a:xfrm>
            <a:off x="8960986" y="716317"/>
            <a:ext cx="11757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裂纹检测</a:t>
            </a:r>
            <a:endParaRPr lang="zh-CN" altLang="en-US" dirty="0"/>
          </a:p>
        </p:txBody>
      </p:sp>
      <p:sp>
        <p:nvSpPr>
          <p:cNvPr id="35" name="文本框 34"/>
          <p:cNvSpPr txBox="1"/>
          <p:nvPr/>
        </p:nvSpPr>
        <p:spPr>
          <a:xfrm>
            <a:off x="2982551" y="4122175"/>
            <a:ext cx="214230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舌上部辨识性特征</a:t>
            </a:r>
            <a:endParaRPr lang="zh-CN" altLang="en-US" dirty="0"/>
          </a:p>
        </p:txBody>
      </p:sp>
      <p:grpSp>
        <p:nvGrpSpPr>
          <p:cNvPr id="36" name="组合 35"/>
          <p:cNvGrpSpPr/>
          <p:nvPr/>
        </p:nvGrpSpPr>
        <p:grpSpPr>
          <a:xfrm>
            <a:off x="24200" y="3882100"/>
            <a:ext cx="1940011" cy="2298357"/>
            <a:chOff x="333632" y="2014151"/>
            <a:chExt cx="1940011" cy="2298357"/>
          </a:xfrm>
        </p:grpSpPr>
        <p:sp>
          <p:nvSpPr>
            <p:cNvPr id="37" name="矩形 36"/>
            <p:cNvSpPr/>
            <p:nvPr/>
          </p:nvSpPr>
          <p:spPr>
            <a:xfrm>
              <a:off x="333632" y="2014151"/>
              <a:ext cx="1940011" cy="229835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8" name="图片 3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573" y="2254226"/>
              <a:ext cx="1334530" cy="1779373"/>
            </a:xfrm>
            <a:prstGeom prst="rect">
              <a:avLst/>
            </a:prstGeom>
          </p:spPr>
        </p:pic>
      </p:grpSp>
      <p:sp>
        <p:nvSpPr>
          <p:cNvPr id="47" name="文本框 46"/>
          <p:cNvSpPr txBox="1"/>
          <p:nvPr/>
        </p:nvSpPr>
        <p:spPr>
          <a:xfrm>
            <a:off x="3282996" y="5188032"/>
            <a:ext cx="140656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学习型特征</a:t>
            </a:r>
            <a:endParaRPr lang="zh-CN" altLang="en-US" dirty="0"/>
          </a:p>
        </p:txBody>
      </p:sp>
      <p:sp>
        <p:nvSpPr>
          <p:cNvPr id="49" name="文本框 48"/>
          <p:cNvSpPr txBox="1"/>
          <p:nvPr/>
        </p:nvSpPr>
        <p:spPr>
          <a:xfrm>
            <a:off x="6490374" y="4661945"/>
            <a:ext cx="1268963" cy="380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体质分类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459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1070" y="78173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/>
              <a:t>舌上部轮廓</a:t>
            </a:r>
            <a:r>
              <a:rPr lang="zh-CN" altLang="en-US" dirty="0" smtClean="0"/>
              <a:t>检测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042" y="2087471"/>
            <a:ext cx="1539241" cy="205232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3790" y="2087471"/>
            <a:ext cx="1539240" cy="2052321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367341" y="2935420"/>
            <a:ext cx="141228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数据标注</a:t>
            </a:r>
            <a:endParaRPr lang="zh-CN" altLang="en-US" sz="2400" dirty="0"/>
          </a:p>
        </p:txBody>
      </p:sp>
      <p:sp>
        <p:nvSpPr>
          <p:cNvPr id="14" name="文本框 13"/>
          <p:cNvSpPr txBox="1"/>
          <p:nvPr/>
        </p:nvSpPr>
        <p:spPr>
          <a:xfrm>
            <a:off x="2235520" y="1403736"/>
            <a:ext cx="1412282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dirty="0" smtClean="0"/>
              <a:t>原始数据</a:t>
            </a:r>
            <a:endParaRPr lang="zh-CN" altLang="en-US" sz="2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2055190" y="4454027"/>
            <a:ext cx="1772941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/>
              <a:t>包含整张人脸和舌上部的图片</a:t>
            </a:r>
            <a:endParaRPr lang="zh-CN" altLang="en-US" sz="2400" dirty="0"/>
          </a:p>
        </p:txBody>
      </p:sp>
      <p:sp>
        <p:nvSpPr>
          <p:cNvPr id="16" name="文本框 15"/>
          <p:cNvSpPr txBox="1"/>
          <p:nvPr/>
        </p:nvSpPr>
        <p:spPr>
          <a:xfrm>
            <a:off x="8206655" y="4452725"/>
            <a:ext cx="223351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 smtClean="0"/>
              <a:t>后期模型训练所需的数据（</a:t>
            </a:r>
            <a:r>
              <a:rPr lang="en-US" altLang="zh-CN" sz="2400" dirty="0" smtClean="0"/>
              <a:t>mask</a:t>
            </a:r>
            <a:r>
              <a:rPr lang="zh-CN" altLang="en-US" sz="2400" dirty="0" smtClean="0"/>
              <a:t>形式）</a:t>
            </a:r>
            <a:endParaRPr lang="zh-CN" altLang="en-US" sz="2400" dirty="0"/>
          </a:p>
        </p:txBody>
      </p:sp>
      <p:sp>
        <p:nvSpPr>
          <p:cNvPr id="3" name="右箭头 2"/>
          <p:cNvSpPr/>
          <p:nvPr/>
        </p:nvSpPr>
        <p:spPr>
          <a:xfrm>
            <a:off x="4088409" y="3024525"/>
            <a:ext cx="888274" cy="2834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右箭头 16"/>
          <p:cNvSpPr/>
          <p:nvPr/>
        </p:nvSpPr>
        <p:spPr>
          <a:xfrm>
            <a:off x="7209747" y="3024525"/>
            <a:ext cx="888274" cy="28345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949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996" y="3219676"/>
            <a:ext cx="1539241" cy="2052321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8738" y="3219676"/>
            <a:ext cx="1539240" cy="205232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693" y="267266"/>
            <a:ext cx="1539240" cy="20523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6313" y="2973283"/>
            <a:ext cx="4485349" cy="283969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4258491" y="793107"/>
            <a:ext cx="214230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 smtClean="0"/>
              <a:t>标好的数据输入网络训练模型</a:t>
            </a:r>
            <a:endParaRPr lang="zh-CN" altLang="en-US" dirty="0"/>
          </a:p>
        </p:txBody>
      </p:sp>
      <p:sp>
        <p:nvSpPr>
          <p:cNvPr id="16" name="下箭头 15"/>
          <p:cNvSpPr/>
          <p:nvPr/>
        </p:nvSpPr>
        <p:spPr>
          <a:xfrm>
            <a:off x="4950823" y="1606731"/>
            <a:ext cx="757646" cy="10319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15618" y="278482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原始数据</a:t>
            </a:r>
            <a:endParaRPr lang="zh-CN" altLang="en-US" dirty="0"/>
          </a:p>
        </p:txBody>
      </p:sp>
      <p:sp>
        <p:nvSpPr>
          <p:cNvPr id="18" name="文本框 17"/>
          <p:cNvSpPr txBox="1"/>
          <p:nvPr/>
        </p:nvSpPr>
        <p:spPr>
          <a:xfrm>
            <a:off x="8928318" y="278482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预测出的结果</a:t>
            </a:r>
            <a:endParaRPr lang="zh-CN" altLang="en-US" dirty="0"/>
          </a:p>
        </p:txBody>
      </p:sp>
      <p:sp>
        <p:nvSpPr>
          <p:cNvPr id="19" name="右箭头 18"/>
          <p:cNvSpPr/>
          <p:nvPr/>
        </p:nvSpPr>
        <p:spPr>
          <a:xfrm>
            <a:off x="2377440" y="4219303"/>
            <a:ext cx="705394" cy="3396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右箭头 19"/>
          <p:cNvSpPr/>
          <p:nvPr/>
        </p:nvSpPr>
        <p:spPr>
          <a:xfrm>
            <a:off x="7741662" y="4219303"/>
            <a:ext cx="705394" cy="33963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921604" y="5443641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input</a:t>
            </a:r>
            <a:endParaRPr lang="zh-CN" altLang="en-US" dirty="0"/>
          </a:p>
        </p:txBody>
      </p:sp>
      <p:sp>
        <p:nvSpPr>
          <p:cNvPr id="22" name="文本框 21"/>
          <p:cNvSpPr txBox="1"/>
          <p:nvPr/>
        </p:nvSpPr>
        <p:spPr>
          <a:xfrm>
            <a:off x="9365136" y="5443641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output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1698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" y="2129925"/>
            <a:ext cx="11439525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678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裂纹检测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梯度矩阵</a:t>
            </a:r>
            <a:endParaRPr lang="en-US" altLang="zh-CN" dirty="0"/>
          </a:p>
          <a:p>
            <a:r>
              <a:rPr lang="zh-CN" altLang="en-US" dirty="0" smtClean="0"/>
              <a:t>二值矩阵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/>
              <a:t>法线区域分割的舌</a:t>
            </a:r>
            <a:r>
              <a:rPr lang="zh-CN" altLang="en-US"/>
              <a:t>裂纹</a:t>
            </a:r>
            <a:r>
              <a:rPr lang="zh-CN" altLang="en-US" smtClean="0"/>
              <a:t>提取</a:t>
            </a:r>
            <a:endParaRPr lang="en-US" altLang="zh-CN" dirty="0" smtClean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00536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097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研究内容一：     </a:t>
            </a:r>
            <a:r>
              <a:rPr lang="en-US" altLang="zh-CN" dirty="0" smtClean="0"/>
              <a:t>- </a:t>
            </a:r>
            <a:r>
              <a:rPr lang="zh-CN" altLang="en-US" dirty="0" smtClean="0"/>
              <a:t>舌上部轮廓检测，裂纹检测和齿痕检测（这几个的模型应该是有共性的）         * 语义分割研究内容二：</a:t>
            </a:r>
            <a:r>
              <a:rPr lang="en-US" altLang="zh-CN" dirty="0" smtClean="0"/>
              <a:t>- </a:t>
            </a:r>
            <a:r>
              <a:rPr lang="zh-CN" altLang="en-US" dirty="0" smtClean="0"/>
              <a:t>舌苔和舌质的分离，颜色分类    * 思路：在舌体提取的基础上，引入聚类的思想做舌苔和舌质分离。进一步，基于</a:t>
            </a:r>
            <a:r>
              <a:rPr lang="en-US" altLang="zh-CN" dirty="0" smtClean="0"/>
              <a:t>LAB</a:t>
            </a:r>
            <a:r>
              <a:rPr lang="zh-CN" altLang="en-US" dirty="0" smtClean="0"/>
              <a:t>颜色值进行颜色分类。    研究内容三：结合深度学习型特征和舌上部语义特征的体质分类    </a:t>
            </a:r>
            <a:r>
              <a:rPr lang="en-US" altLang="zh-CN" dirty="0" smtClean="0"/>
              <a:t>- </a:t>
            </a:r>
            <a:r>
              <a:rPr lang="zh-CN" altLang="en-US" dirty="0" smtClean="0"/>
              <a:t>融合上述舌上部辨识性特征和表示型特征进行体质分类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71327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7083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205</Words>
  <Application>Microsoft Office PowerPoint</Application>
  <PresentationFormat>宽屏</PresentationFormat>
  <Paragraphs>24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等线</vt:lpstr>
      <vt:lpstr>等线 Light</vt:lpstr>
      <vt:lpstr>Arial</vt:lpstr>
      <vt:lpstr>Office 主题​​</vt:lpstr>
      <vt:lpstr> Week3</vt:lpstr>
      <vt:lpstr>PowerPoint 演示文稿</vt:lpstr>
      <vt:lpstr>舌上部轮廓检测</vt:lpstr>
      <vt:lpstr>PowerPoint 演示文稿</vt:lpstr>
      <vt:lpstr>PowerPoint 演示文稿</vt:lpstr>
      <vt:lpstr>裂纹检测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常 然</dc:creator>
  <cp:lastModifiedBy>常 然</cp:lastModifiedBy>
  <cp:revision>30</cp:revision>
  <dcterms:created xsi:type="dcterms:W3CDTF">2020-12-15T12:04:42Z</dcterms:created>
  <dcterms:modified xsi:type="dcterms:W3CDTF">2020-12-16T13:15:32Z</dcterms:modified>
</cp:coreProperties>
</file>