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8" r:id="rId2"/>
    <p:sldId id="271" r:id="rId3"/>
    <p:sldId id="259" r:id="rId4"/>
    <p:sldId id="266" r:id="rId5"/>
    <p:sldId id="268" r:id="rId6"/>
    <p:sldId id="267" r:id="rId7"/>
    <p:sldId id="256" r:id="rId8"/>
    <p:sldId id="260" r:id="rId9"/>
    <p:sldId id="257" r:id="rId10"/>
    <p:sldId id="264" r:id="rId11"/>
    <p:sldId id="261" r:id="rId12"/>
    <p:sldId id="269" r:id="rId13"/>
    <p:sldId id="262" r:id="rId14"/>
    <p:sldId id="272" r:id="rId15"/>
    <p:sldId id="265" r:id="rId16"/>
    <p:sldId id="263" r:id="rId17"/>
    <p:sldId id="27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168"/>
      </p:cViewPr>
      <p:guideLst>
        <p:guide orient="horz" pos="2160"/>
        <p:guide pos="388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2020/12/11</a:t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2020/12/11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weixin_39875161/article/details/88073849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Week2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939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本周工作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确定整体方向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文献、工具调研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387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02368"/>
            <a:ext cx="10852237" cy="5434987"/>
          </a:xfrm>
        </p:spPr>
        <p:txBody>
          <a:bodyPr/>
          <a:lstStyle/>
          <a:p>
            <a:r>
              <a:rPr lang="zh-CN" altLang="en-US" sz="2400" dirty="0"/>
              <a:t>研究内容</a:t>
            </a:r>
            <a:r>
              <a:rPr lang="en-US" altLang="zh-CN" sz="2400" dirty="0"/>
              <a:t>1:</a:t>
            </a:r>
            <a:r>
              <a:rPr lang="zh-CN" altLang="en-US" sz="2400" dirty="0"/>
              <a:t>面向脸部图片，实现人脸颜色特征提取和光泽度检测算法。在颜色特征提取问题上，基于</a:t>
            </a:r>
            <a:r>
              <a:rPr lang="en-US" altLang="zh-CN" sz="2400" dirty="0"/>
              <a:t>LAB</a:t>
            </a:r>
            <a:r>
              <a:rPr lang="zh-CN" altLang="en-US" sz="2400" dirty="0"/>
              <a:t>颜色空间，进一步实现人脸局部区域（包括眉间、脸颊、嘴唇等）和全局区域的六分类模型（白、黑、红、黄、青、正常）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研究</a:t>
            </a:r>
            <a:r>
              <a:rPr lang="zh-CN" altLang="en-US" sz="2400" dirty="0"/>
              <a:t>内容</a:t>
            </a:r>
            <a:r>
              <a:rPr lang="en-US" altLang="zh-CN" sz="2400" dirty="0"/>
              <a:t>2:</a:t>
            </a:r>
            <a:r>
              <a:rPr lang="zh-CN" altLang="en-US" sz="2400" dirty="0"/>
              <a:t>面向舌上部图片，在分割出舌体后，基于</a:t>
            </a:r>
            <a:r>
              <a:rPr lang="en-US" altLang="zh-CN" sz="2400" dirty="0"/>
              <a:t>LAB</a:t>
            </a:r>
            <a:r>
              <a:rPr lang="zh-CN" altLang="en-US" sz="2400" dirty="0"/>
              <a:t>颜色空间实现舌色五分类、苔色二分类算法。除此之外，完成舌体裂纹识别、舌体胖瘦检测和舌苔厚度检测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研究</a:t>
            </a:r>
            <a:r>
              <a:rPr lang="zh-CN" altLang="en-US" sz="2400" dirty="0"/>
              <a:t>内容</a:t>
            </a:r>
            <a:r>
              <a:rPr lang="en-US" altLang="zh-CN" sz="2400" dirty="0"/>
              <a:t>3:</a:t>
            </a:r>
            <a:r>
              <a:rPr lang="zh-CN" altLang="en-US" sz="2400" dirty="0"/>
              <a:t>在研究内容</a:t>
            </a:r>
            <a:r>
              <a:rPr lang="en-US" altLang="zh-CN" sz="2400" dirty="0"/>
              <a:t>1</a:t>
            </a:r>
            <a:r>
              <a:rPr lang="zh-CN" altLang="en-US" sz="2400" dirty="0"/>
              <a:t>和研究内容</a:t>
            </a:r>
            <a:r>
              <a:rPr lang="en-US" altLang="zh-CN" sz="2400" dirty="0"/>
              <a:t>2</a:t>
            </a:r>
            <a:r>
              <a:rPr lang="zh-CN" altLang="en-US" sz="2400" dirty="0"/>
              <a:t>所提取的中医辨识性特征的基础上</a:t>
            </a:r>
            <a:r>
              <a:rPr lang="zh-CN" altLang="en-US" sz="2400" dirty="0" smtClean="0"/>
              <a:t>，使用分类器得到体质、疾病的分类结果。</a:t>
            </a:r>
            <a:endParaRPr lang="en-US" altLang="zh-CN" sz="2400" dirty="0" smtClean="0"/>
          </a:p>
          <a:p>
            <a:r>
              <a:rPr lang="zh-CN" altLang="en-US" sz="2400" dirty="0"/>
              <a:t>（</a:t>
            </a:r>
            <a:r>
              <a:rPr lang="zh-CN" altLang="en-US" sz="2400" dirty="0" smtClean="0"/>
              <a:t>进一步</a:t>
            </a:r>
            <a:r>
              <a:rPr lang="zh-CN" altLang="en-US" sz="2400" dirty="0"/>
              <a:t>引入深度学习的学习型</a:t>
            </a:r>
            <a:r>
              <a:rPr lang="zh-CN" altLang="en-US" sz="2400" dirty="0" smtClean="0"/>
              <a:t>特征）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2250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研究内容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面向</a:t>
            </a:r>
            <a:r>
              <a:rPr lang="zh-CN" altLang="en-US" dirty="0"/>
              <a:t>脸部图片，实现人脸颜色特征提取和光泽度</a:t>
            </a:r>
            <a:r>
              <a:rPr lang="zh-CN" altLang="en-US" dirty="0" smtClean="0"/>
              <a:t>检测。</a:t>
            </a:r>
            <a:r>
              <a:rPr lang="zh-CN" altLang="en-US" dirty="0"/>
              <a:t>在颜色特征提取问题上，基于</a:t>
            </a:r>
            <a:r>
              <a:rPr lang="en-US" altLang="zh-CN" dirty="0"/>
              <a:t>LAB</a:t>
            </a:r>
            <a:r>
              <a:rPr lang="zh-CN" altLang="en-US" dirty="0"/>
              <a:t>颜色空间，进一步实现人脸局部区域（包括眉间、脸颊、嘴唇等）和全局区域的六分类模型（白、黑、红、黄、青、正常）。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 rotWithShape="1">
          <a:blip r:embed="rId2"/>
          <a:srcRect t="-1" b="65079"/>
          <a:stretch/>
        </p:blipFill>
        <p:spPr>
          <a:xfrm>
            <a:off x="477377" y="5184234"/>
            <a:ext cx="10633158" cy="129123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631" y="3349317"/>
            <a:ext cx="1217295" cy="11887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061" y="3348682"/>
            <a:ext cx="1280795" cy="11893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60996" y="2980382"/>
            <a:ext cx="1217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面部图片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808735" y="2642562"/>
            <a:ext cx="1569085" cy="645160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区域分割</a:t>
            </a:r>
          </a:p>
          <a:p>
            <a:pPr algn="ctr"/>
            <a:r>
              <a:rPr lang="zh-CN" altLang="en-US" dirty="0"/>
              <a:t>关键点提取</a:t>
            </a:r>
          </a:p>
        </p:txBody>
      </p:sp>
      <p:cxnSp>
        <p:nvCxnSpPr>
          <p:cNvPr id="9" name="直接箭头连接符 8"/>
          <p:cNvCxnSpPr>
            <a:stCxn id="18" idx="3"/>
          </p:cNvCxnSpPr>
          <p:nvPr/>
        </p:nvCxnSpPr>
        <p:spPr>
          <a:xfrm flipV="1">
            <a:off x="4318851" y="3516322"/>
            <a:ext cx="723900" cy="4413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19" idx="3"/>
            <a:endCxn id="18" idx="1"/>
          </p:cNvCxnSpPr>
          <p:nvPr/>
        </p:nvCxnSpPr>
        <p:spPr>
          <a:xfrm>
            <a:off x="2494496" y="3957647"/>
            <a:ext cx="34099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042751" y="3171517"/>
            <a:ext cx="1502410" cy="6451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LAB</a:t>
            </a:r>
            <a:r>
              <a:rPr lang="zh-CN" altLang="en-US"/>
              <a:t>空间颜色提取</a:t>
            </a:r>
          </a:p>
        </p:txBody>
      </p:sp>
      <p:cxnSp>
        <p:nvCxnSpPr>
          <p:cNvPr id="12" name="直接箭头连接符 11"/>
          <p:cNvCxnSpPr>
            <a:stCxn id="18" idx="3"/>
            <a:endCxn id="13" idx="1"/>
          </p:cNvCxnSpPr>
          <p:nvPr/>
        </p:nvCxnSpPr>
        <p:spPr>
          <a:xfrm>
            <a:off x="4318851" y="3957647"/>
            <a:ext cx="714375" cy="3962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033226" y="4169737"/>
            <a:ext cx="1690370" cy="3683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光泽指数提取</a:t>
            </a:r>
          </a:p>
        </p:txBody>
      </p:sp>
      <p:cxnSp>
        <p:nvCxnSpPr>
          <p:cNvPr id="14" name="直接箭头连接符 13"/>
          <p:cNvCxnSpPr>
            <a:stCxn id="11" idx="3"/>
            <a:endCxn id="16" idx="1"/>
          </p:cNvCxnSpPr>
          <p:nvPr/>
        </p:nvCxnSpPr>
        <p:spPr>
          <a:xfrm>
            <a:off x="6545161" y="3494097"/>
            <a:ext cx="761365" cy="586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3" idx="3"/>
            <a:endCxn id="17" idx="1"/>
          </p:cNvCxnSpPr>
          <p:nvPr/>
        </p:nvCxnSpPr>
        <p:spPr>
          <a:xfrm>
            <a:off x="6723596" y="4353887"/>
            <a:ext cx="5461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306526" y="3171517"/>
            <a:ext cx="178689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面部颜色六分类</a:t>
            </a:r>
            <a:endParaRPr lang="en-US" altLang="zh-CN" dirty="0" smtClean="0"/>
          </a:p>
          <a:p>
            <a:pPr algn="ctr"/>
            <a:r>
              <a:rPr lang="zh-CN" altLang="en-US" dirty="0"/>
              <a:t>嘴唇</a:t>
            </a:r>
            <a:r>
              <a:rPr lang="zh-CN" altLang="en-US" dirty="0" smtClean="0"/>
              <a:t>颜色五分类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269696" y="4169737"/>
            <a:ext cx="1407795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光泽度分类</a:t>
            </a:r>
          </a:p>
        </p:txBody>
      </p:sp>
      <p:sp>
        <p:nvSpPr>
          <p:cNvPr id="18" name="矩形 17"/>
          <p:cNvSpPr/>
          <p:nvPr/>
        </p:nvSpPr>
        <p:spPr>
          <a:xfrm>
            <a:off x="2835491" y="3262957"/>
            <a:ext cx="1483360" cy="1389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011136" y="3262957"/>
            <a:ext cx="1483360" cy="1389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17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研究内容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面向</a:t>
            </a:r>
            <a:r>
              <a:rPr lang="zh-CN" altLang="en-US" dirty="0"/>
              <a:t>舌上部图片，在分割出舌体后，基于</a:t>
            </a:r>
            <a:r>
              <a:rPr lang="en-US" altLang="zh-CN" dirty="0"/>
              <a:t>LAB</a:t>
            </a:r>
            <a:r>
              <a:rPr lang="zh-CN" altLang="en-US" dirty="0"/>
              <a:t>颜色空间实现舌色五分类、苔色二分类算法。除此之外，完成舌体裂纹识别、舌体胖瘦检测和舌苔厚度检测。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004" y="2703563"/>
            <a:ext cx="1217930" cy="14001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59004" y="2277478"/>
            <a:ext cx="1217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舌部图片</a:t>
            </a:r>
          </a:p>
        </p:txBody>
      </p:sp>
      <p:cxnSp>
        <p:nvCxnSpPr>
          <p:cNvPr id="6" name="直接箭头连接符 5"/>
          <p:cNvCxnSpPr>
            <a:stCxn id="20" idx="3"/>
            <a:endCxn id="19" idx="1"/>
          </p:cNvCxnSpPr>
          <p:nvPr/>
        </p:nvCxnSpPr>
        <p:spPr>
          <a:xfrm flipV="1">
            <a:off x="2609649" y="3403333"/>
            <a:ext cx="458470" cy="82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030019" y="2217153"/>
            <a:ext cx="1264920" cy="64516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舌上部区域提取</a:t>
            </a:r>
          </a:p>
        </p:txBody>
      </p:sp>
      <p:cxnSp>
        <p:nvCxnSpPr>
          <p:cNvPr id="8" name="直接箭头连接符 7"/>
          <p:cNvCxnSpPr>
            <a:stCxn id="19" idx="3"/>
            <a:endCxn id="11" idx="1"/>
          </p:cNvCxnSpPr>
          <p:nvPr/>
        </p:nvCxnSpPr>
        <p:spPr>
          <a:xfrm flipV="1">
            <a:off x="4270174" y="3231883"/>
            <a:ext cx="932815" cy="1714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19" idx="3"/>
            <a:endCxn id="18" idx="1"/>
          </p:cNvCxnSpPr>
          <p:nvPr/>
        </p:nvCxnSpPr>
        <p:spPr>
          <a:xfrm>
            <a:off x="4270174" y="3403333"/>
            <a:ext cx="932815" cy="285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19" idx="3"/>
          </p:cNvCxnSpPr>
          <p:nvPr/>
        </p:nvCxnSpPr>
        <p:spPr>
          <a:xfrm flipV="1">
            <a:off x="4270174" y="2560053"/>
            <a:ext cx="932815" cy="8432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202989" y="3047733"/>
            <a:ext cx="1162050" cy="3683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/>
              <a:t>裂纹识别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02989" y="2329548"/>
            <a:ext cx="1789430" cy="6451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舌色、苔色</a:t>
            </a:r>
            <a:r>
              <a:rPr lang="en-US" altLang="zh-CN"/>
              <a:t>LAB</a:t>
            </a:r>
            <a:r>
              <a:rPr lang="zh-CN" altLang="en-US"/>
              <a:t>空间颜色提取</a:t>
            </a:r>
          </a:p>
        </p:txBody>
      </p:sp>
      <p:cxnSp>
        <p:nvCxnSpPr>
          <p:cNvPr id="13" name="直接箭头连接符 12"/>
          <p:cNvCxnSpPr>
            <a:stCxn id="12" idx="3"/>
            <a:endCxn id="14" idx="1"/>
          </p:cNvCxnSpPr>
          <p:nvPr/>
        </p:nvCxnSpPr>
        <p:spPr>
          <a:xfrm>
            <a:off x="6992419" y="2652128"/>
            <a:ext cx="514985" cy="586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507404" y="2329548"/>
            <a:ext cx="1492217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苔色二分类</a:t>
            </a:r>
            <a:endParaRPr lang="en-US" altLang="zh-CN" dirty="0" smtClean="0"/>
          </a:p>
          <a:p>
            <a:r>
              <a:rPr lang="zh-CN" altLang="en-US" dirty="0" smtClean="0"/>
              <a:t>舌色五分类</a:t>
            </a:r>
            <a:endParaRPr lang="zh-CN" altLang="en-US" dirty="0"/>
          </a:p>
        </p:txBody>
      </p:sp>
      <p:cxnSp>
        <p:nvCxnSpPr>
          <p:cNvPr id="15" name="直接箭头连接符 14"/>
          <p:cNvCxnSpPr>
            <a:stCxn id="19" idx="3"/>
            <a:endCxn id="16" idx="1"/>
          </p:cNvCxnSpPr>
          <p:nvPr/>
        </p:nvCxnSpPr>
        <p:spPr>
          <a:xfrm>
            <a:off x="4270174" y="3403333"/>
            <a:ext cx="932815" cy="7397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202989" y="3958958"/>
            <a:ext cx="157353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ym typeface="+mn-ea"/>
              </a:rPr>
              <a:t>舌部胖瘦分类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374" y="2892793"/>
            <a:ext cx="917575" cy="102171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202989" y="3504933"/>
            <a:ext cx="157353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/>
              <a:t>舌苔厚度分类</a:t>
            </a:r>
          </a:p>
        </p:txBody>
      </p:sp>
      <p:sp>
        <p:nvSpPr>
          <p:cNvPr id="19" name="矩形 18"/>
          <p:cNvSpPr/>
          <p:nvPr/>
        </p:nvSpPr>
        <p:spPr>
          <a:xfrm>
            <a:off x="3068119" y="2722613"/>
            <a:ext cx="1202055" cy="1361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126289" y="2716898"/>
            <a:ext cx="1483360" cy="1389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内容占位符 3"/>
          <p:cNvPicPr>
            <a:picLocks noChangeAspect="1"/>
          </p:cNvPicPr>
          <p:nvPr/>
        </p:nvPicPr>
        <p:blipFill rotWithShape="1">
          <a:blip r:embed="rId4"/>
          <a:srcRect t="33013"/>
          <a:stretch/>
        </p:blipFill>
        <p:spPr>
          <a:xfrm>
            <a:off x="669882" y="4431689"/>
            <a:ext cx="10633158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6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研究内容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en-US" dirty="0"/>
              <a:t>研究内容</a:t>
            </a:r>
            <a:r>
              <a:rPr lang="en-US" altLang="zh-CN" dirty="0"/>
              <a:t>1</a:t>
            </a:r>
            <a:r>
              <a:rPr lang="zh-CN" altLang="en-US" dirty="0"/>
              <a:t>和研究内容</a:t>
            </a:r>
            <a:r>
              <a:rPr lang="en-US" altLang="zh-CN" dirty="0"/>
              <a:t>2</a:t>
            </a:r>
            <a:r>
              <a:rPr lang="zh-CN" altLang="en-US" dirty="0"/>
              <a:t>所提取的中医辨识性特征的基础上，使用分类器得到体质、疾病的分类结果。</a:t>
            </a:r>
            <a:endParaRPr lang="en-US" altLang="zh-CN" dirty="0"/>
          </a:p>
          <a:p>
            <a:r>
              <a:rPr lang="zh-CN" altLang="en-US" dirty="0"/>
              <a:t>（进一步</a:t>
            </a:r>
            <a:r>
              <a:rPr lang="zh-CN" altLang="en-US" dirty="0" smtClean="0"/>
              <a:t>引入神经网络的</a:t>
            </a:r>
            <a:r>
              <a:rPr lang="zh-CN" altLang="en-US" dirty="0"/>
              <a:t>学习型特征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 smtClean="0"/>
              <a:t>题目：基于舌面部图片数据的辨识性特征提取和分类方法研究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97653" y="3435102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面部特征</a:t>
            </a:r>
            <a:endParaRPr lang="zh-CN" altLang="en-US" dirty="0"/>
          </a:p>
        </p:txBody>
      </p:sp>
      <p:cxnSp>
        <p:nvCxnSpPr>
          <p:cNvPr id="5" name="直接箭头连接符 4"/>
          <p:cNvCxnSpPr>
            <a:stCxn id="4" idx="3"/>
            <a:endCxn id="6" idx="1"/>
          </p:cNvCxnSpPr>
          <p:nvPr/>
        </p:nvCxnSpPr>
        <p:spPr>
          <a:xfrm>
            <a:off x="2005649" y="3619768"/>
            <a:ext cx="1202197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207846" y="3435101"/>
            <a:ext cx="1104311" cy="369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特征融合</a:t>
            </a:r>
            <a:endParaRPr lang="zh-CN" altLang="en-US" dirty="0"/>
          </a:p>
        </p:txBody>
      </p:sp>
      <p:cxnSp>
        <p:nvCxnSpPr>
          <p:cNvPr id="7" name="直接箭头连接符 6"/>
          <p:cNvCxnSpPr>
            <a:stCxn id="6" idx="3"/>
            <a:endCxn id="8" idx="1"/>
          </p:cNvCxnSpPr>
          <p:nvPr/>
        </p:nvCxnSpPr>
        <p:spPr>
          <a:xfrm>
            <a:off x="4312157" y="3619768"/>
            <a:ext cx="1060508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372665" y="3296602"/>
            <a:ext cx="161761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使用分类器进行学习和分类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97653" y="3989100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舌部特征</a:t>
            </a:r>
            <a:endParaRPr lang="zh-CN" altLang="en-US" dirty="0"/>
          </a:p>
        </p:txBody>
      </p:sp>
      <p:cxnSp>
        <p:nvCxnSpPr>
          <p:cNvPr id="10" name="直接箭头连接符 9"/>
          <p:cNvCxnSpPr>
            <a:stCxn id="9" idx="3"/>
            <a:endCxn id="6" idx="1"/>
          </p:cNvCxnSpPr>
          <p:nvPr/>
        </p:nvCxnSpPr>
        <p:spPr>
          <a:xfrm flipV="1">
            <a:off x="2005649" y="3619768"/>
            <a:ext cx="1202197" cy="553998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69882" y="2604105"/>
            <a:ext cx="1335767" cy="646331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神经网络学习型特征</a:t>
            </a:r>
            <a:endParaRPr lang="zh-CN" altLang="en-US" dirty="0"/>
          </a:p>
        </p:txBody>
      </p:sp>
      <p:cxnSp>
        <p:nvCxnSpPr>
          <p:cNvPr id="12" name="直接箭头连接符 11"/>
          <p:cNvCxnSpPr>
            <a:stCxn id="11" idx="3"/>
            <a:endCxn id="6" idx="1"/>
          </p:cNvCxnSpPr>
          <p:nvPr/>
        </p:nvCxnSpPr>
        <p:spPr>
          <a:xfrm>
            <a:off x="2005649" y="2927271"/>
            <a:ext cx="1202197" cy="692497"/>
          </a:xfrm>
          <a:prstGeom prst="straightConnector1">
            <a:avLst/>
          </a:prstGeom>
          <a:ln>
            <a:prstDash val="lgDashDotDot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25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20" y="1120491"/>
            <a:ext cx="1217295" cy="11887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2550" y="1119856"/>
            <a:ext cx="1280795" cy="11893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2485" y="751556"/>
            <a:ext cx="1217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面部图片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098405" y="366111"/>
            <a:ext cx="1569085" cy="645160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区域分割</a:t>
            </a:r>
          </a:p>
          <a:p>
            <a:pPr algn="ctr"/>
            <a:r>
              <a:rPr lang="zh-CN" altLang="en-US"/>
              <a:t>关键点提取</a:t>
            </a:r>
          </a:p>
        </p:txBody>
      </p:sp>
      <p:cxnSp>
        <p:nvCxnSpPr>
          <p:cNvPr id="11" name="直接箭头连接符 10"/>
          <p:cNvCxnSpPr>
            <a:stCxn id="42" idx="3"/>
          </p:cNvCxnSpPr>
          <p:nvPr/>
        </p:nvCxnSpPr>
        <p:spPr>
          <a:xfrm flipV="1">
            <a:off x="3610340" y="1287496"/>
            <a:ext cx="723900" cy="4413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3" idx="3"/>
            <a:endCxn id="42" idx="1"/>
          </p:cNvCxnSpPr>
          <p:nvPr/>
        </p:nvCxnSpPr>
        <p:spPr>
          <a:xfrm>
            <a:off x="1785985" y="1728821"/>
            <a:ext cx="34099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334240" y="942691"/>
            <a:ext cx="1502410" cy="6451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LAB</a:t>
            </a:r>
            <a:r>
              <a:rPr lang="zh-CN" altLang="en-US"/>
              <a:t>空间颜色提取</a:t>
            </a:r>
          </a:p>
        </p:txBody>
      </p:sp>
      <p:cxnSp>
        <p:nvCxnSpPr>
          <p:cNvPr id="14" name="直接箭头连接符 13"/>
          <p:cNvCxnSpPr>
            <a:stCxn id="42" idx="3"/>
            <a:endCxn id="15" idx="1"/>
          </p:cNvCxnSpPr>
          <p:nvPr/>
        </p:nvCxnSpPr>
        <p:spPr>
          <a:xfrm>
            <a:off x="3610340" y="1728821"/>
            <a:ext cx="714375" cy="3962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24715" y="1940911"/>
            <a:ext cx="1690370" cy="3683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光泽指数提取</a:t>
            </a:r>
          </a:p>
        </p:txBody>
      </p:sp>
      <p:cxnSp>
        <p:nvCxnSpPr>
          <p:cNvPr id="16" name="直接箭头连接符 15"/>
          <p:cNvCxnSpPr>
            <a:stCxn id="13" idx="3"/>
            <a:endCxn id="18" idx="1"/>
          </p:cNvCxnSpPr>
          <p:nvPr/>
        </p:nvCxnSpPr>
        <p:spPr>
          <a:xfrm>
            <a:off x="5836650" y="1265271"/>
            <a:ext cx="761365" cy="586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5" idx="3"/>
            <a:endCxn id="19" idx="1"/>
          </p:cNvCxnSpPr>
          <p:nvPr/>
        </p:nvCxnSpPr>
        <p:spPr>
          <a:xfrm>
            <a:off x="6015085" y="2125061"/>
            <a:ext cx="5461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598015" y="942691"/>
            <a:ext cx="178689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面部颜色六分类</a:t>
            </a:r>
            <a:endParaRPr lang="en-US" altLang="zh-CN" dirty="0" smtClean="0"/>
          </a:p>
          <a:p>
            <a:pPr algn="ctr"/>
            <a:r>
              <a:rPr lang="zh-CN" altLang="en-US" dirty="0"/>
              <a:t>嘴唇</a:t>
            </a:r>
            <a:r>
              <a:rPr lang="zh-CN" altLang="en-US" dirty="0" smtClean="0"/>
              <a:t>颜色五分类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6561185" y="1940911"/>
            <a:ext cx="1407795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光泽度分类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89" y="3064510"/>
            <a:ext cx="1217930" cy="140017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52889" y="2638425"/>
            <a:ext cx="1217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舌部图片</a:t>
            </a:r>
          </a:p>
        </p:txBody>
      </p:sp>
      <p:cxnSp>
        <p:nvCxnSpPr>
          <p:cNvPr id="22" name="直接箭头连接符 21"/>
          <p:cNvCxnSpPr>
            <a:stCxn id="44" idx="3"/>
            <a:endCxn id="41" idx="1"/>
          </p:cNvCxnSpPr>
          <p:nvPr/>
        </p:nvCxnSpPr>
        <p:spPr>
          <a:xfrm flipV="1">
            <a:off x="1803534" y="3764280"/>
            <a:ext cx="458470" cy="82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2223904" y="2578100"/>
            <a:ext cx="1264920" cy="64516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舌上部区域提取</a:t>
            </a:r>
          </a:p>
        </p:txBody>
      </p:sp>
      <p:cxnSp>
        <p:nvCxnSpPr>
          <p:cNvPr id="25" name="直接箭头连接符 24"/>
          <p:cNvCxnSpPr>
            <a:stCxn id="41" idx="3"/>
            <a:endCxn id="31" idx="1"/>
          </p:cNvCxnSpPr>
          <p:nvPr/>
        </p:nvCxnSpPr>
        <p:spPr>
          <a:xfrm flipV="1">
            <a:off x="3464059" y="3592830"/>
            <a:ext cx="932815" cy="1714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41" idx="3"/>
            <a:endCxn id="40" idx="1"/>
          </p:cNvCxnSpPr>
          <p:nvPr/>
        </p:nvCxnSpPr>
        <p:spPr>
          <a:xfrm>
            <a:off x="3464059" y="3764280"/>
            <a:ext cx="932815" cy="285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41" idx="3"/>
          </p:cNvCxnSpPr>
          <p:nvPr/>
        </p:nvCxnSpPr>
        <p:spPr>
          <a:xfrm flipV="1">
            <a:off x="3464059" y="2921000"/>
            <a:ext cx="932815" cy="8432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4396874" y="3408680"/>
            <a:ext cx="1162050" cy="3683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/>
              <a:t>裂纹识别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396874" y="2690495"/>
            <a:ext cx="1789430" cy="6451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舌色、苔色</a:t>
            </a:r>
            <a:r>
              <a:rPr lang="en-US" altLang="zh-CN"/>
              <a:t>LAB</a:t>
            </a:r>
            <a:r>
              <a:rPr lang="zh-CN" altLang="en-US"/>
              <a:t>空间颜色提取</a:t>
            </a:r>
          </a:p>
        </p:txBody>
      </p:sp>
      <p:cxnSp>
        <p:nvCxnSpPr>
          <p:cNvPr id="34" name="直接箭头连接符 33"/>
          <p:cNvCxnSpPr>
            <a:stCxn id="33" idx="3"/>
            <a:endCxn id="35" idx="1"/>
          </p:cNvCxnSpPr>
          <p:nvPr/>
        </p:nvCxnSpPr>
        <p:spPr>
          <a:xfrm>
            <a:off x="6186304" y="3013075"/>
            <a:ext cx="514985" cy="586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6701289" y="2690495"/>
            <a:ext cx="1492217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苔色二分类</a:t>
            </a:r>
            <a:endParaRPr lang="en-US" altLang="zh-CN" dirty="0" smtClean="0"/>
          </a:p>
          <a:p>
            <a:r>
              <a:rPr lang="zh-CN" altLang="en-US" dirty="0" smtClean="0"/>
              <a:t>舌色五分类</a:t>
            </a:r>
            <a:endParaRPr lang="zh-CN" altLang="en-US" dirty="0"/>
          </a:p>
        </p:txBody>
      </p:sp>
      <p:cxnSp>
        <p:nvCxnSpPr>
          <p:cNvPr id="36" name="直接箭头连接符 35"/>
          <p:cNvCxnSpPr>
            <a:stCxn id="41" idx="3"/>
            <a:endCxn id="37" idx="1"/>
          </p:cNvCxnSpPr>
          <p:nvPr/>
        </p:nvCxnSpPr>
        <p:spPr>
          <a:xfrm>
            <a:off x="3464059" y="3764280"/>
            <a:ext cx="932815" cy="7397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396874" y="4319905"/>
            <a:ext cx="157353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ym typeface="+mn-ea"/>
              </a:rPr>
              <a:t>舌部胖瘦分类</a:t>
            </a:r>
            <a:endParaRPr lang="zh-CN" altLang="en-US" dirty="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7259" y="3253740"/>
            <a:ext cx="917575" cy="102171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4396874" y="3865880"/>
            <a:ext cx="157353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/>
              <a:t>舌苔厚度分类</a:t>
            </a:r>
          </a:p>
        </p:txBody>
      </p:sp>
      <p:sp>
        <p:nvSpPr>
          <p:cNvPr id="41" name="矩形 40"/>
          <p:cNvSpPr/>
          <p:nvPr/>
        </p:nvSpPr>
        <p:spPr>
          <a:xfrm>
            <a:off x="2262004" y="3083560"/>
            <a:ext cx="1202055" cy="1361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126980" y="1034131"/>
            <a:ext cx="1483360" cy="1389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02625" y="1034131"/>
            <a:ext cx="1483360" cy="1389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320174" y="3077845"/>
            <a:ext cx="1483360" cy="1389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2485" y="5444376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面部特征</a:t>
            </a:r>
            <a:endParaRPr lang="zh-CN" altLang="en-US" dirty="0"/>
          </a:p>
        </p:txBody>
      </p:sp>
      <p:cxnSp>
        <p:nvCxnSpPr>
          <p:cNvPr id="39" name="直接箭头连接符 38"/>
          <p:cNvCxnSpPr>
            <a:stCxn id="3" idx="3"/>
            <a:endCxn id="7" idx="1"/>
          </p:cNvCxnSpPr>
          <p:nvPr/>
        </p:nvCxnSpPr>
        <p:spPr>
          <a:xfrm>
            <a:off x="1560481" y="5629042"/>
            <a:ext cx="1202197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762678" y="5444375"/>
            <a:ext cx="1104311" cy="369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特征融合</a:t>
            </a:r>
            <a:endParaRPr lang="zh-CN" altLang="en-US" dirty="0"/>
          </a:p>
        </p:txBody>
      </p:sp>
      <p:cxnSp>
        <p:nvCxnSpPr>
          <p:cNvPr id="45" name="直接箭头连接符 44"/>
          <p:cNvCxnSpPr>
            <a:stCxn id="7" idx="3"/>
            <a:endCxn id="46" idx="1"/>
          </p:cNvCxnSpPr>
          <p:nvPr/>
        </p:nvCxnSpPr>
        <p:spPr>
          <a:xfrm>
            <a:off x="3866989" y="5629042"/>
            <a:ext cx="1060508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4927497" y="5305876"/>
            <a:ext cx="161761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使用分类器进行学习和分类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452485" y="5998374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舌部特征</a:t>
            </a:r>
            <a:endParaRPr lang="zh-CN" altLang="en-US" dirty="0"/>
          </a:p>
        </p:txBody>
      </p:sp>
      <p:cxnSp>
        <p:nvCxnSpPr>
          <p:cNvPr id="47" name="直接箭头连接符 46"/>
          <p:cNvCxnSpPr>
            <a:stCxn id="32" idx="3"/>
            <a:endCxn id="7" idx="1"/>
          </p:cNvCxnSpPr>
          <p:nvPr/>
        </p:nvCxnSpPr>
        <p:spPr>
          <a:xfrm flipV="1">
            <a:off x="1560481" y="5629042"/>
            <a:ext cx="1202197" cy="553998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343910" y="4753961"/>
            <a:ext cx="1442075" cy="646331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神经网络学习型特征</a:t>
            </a:r>
            <a:endParaRPr lang="zh-CN" altLang="en-US" dirty="0"/>
          </a:p>
        </p:txBody>
      </p:sp>
      <p:cxnSp>
        <p:nvCxnSpPr>
          <p:cNvPr id="63" name="直接箭头连接符 62"/>
          <p:cNvCxnSpPr>
            <a:stCxn id="53" idx="3"/>
            <a:endCxn id="7" idx="1"/>
          </p:cNvCxnSpPr>
          <p:nvPr/>
        </p:nvCxnSpPr>
        <p:spPr>
          <a:xfrm>
            <a:off x="1785985" y="5077127"/>
            <a:ext cx="976693" cy="551915"/>
          </a:xfrm>
          <a:prstGeom prst="straightConnector1">
            <a:avLst/>
          </a:prstGeom>
          <a:ln>
            <a:prstDash val="lgDashDotDot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分类结果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597" y="1540043"/>
            <a:ext cx="10633158" cy="375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面部关键点提取和区域分割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face_recognition</a:t>
            </a:r>
            <a:r>
              <a:rPr lang="en-US" altLang="zh-CN" dirty="0" smtClean="0"/>
              <a:t> </a:t>
            </a:r>
          </a:p>
          <a:p>
            <a:r>
              <a:rPr lang="zh-CN" altLang="en-US" dirty="0" smtClean="0"/>
              <a:t>基于</a:t>
            </a:r>
            <a:r>
              <a:rPr lang="en-US" altLang="zh-CN" dirty="0" err="1" smtClean="0"/>
              <a:t>Dlib</a:t>
            </a:r>
            <a:r>
              <a:rPr lang="zh-CN" altLang="en-US" dirty="0" smtClean="0"/>
              <a:t>中的深度学习模型。可以用于提取嘴唇位置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i="1" dirty="0"/>
              <a:t>基于面部图像特征融合的中医望诊面色分类研究</a:t>
            </a:r>
            <a:endParaRPr lang="en-US" altLang="zh-CN" i="1" dirty="0" smtClean="0"/>
          </a:p>
          <a:p>
            <a:r>
              <a:rPr lang="en-US" dirty="0" err="1" smtClean="0"/>
              <a:t>Dlib</a:t>
            </a:r>
            <a:r>
              <a:rPr lang="en-US" dirty="0" smtClean="0"/>
              <a:t> </a:t>
            </a:r>
            <a:r>
              <a:rPr lang="zh-CN" altLang="en-US" dirty="0" smtClean="0"/>
              <a:t>：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blog.csdn.net/weixin_39875161/article/details/88073849</a:t>
            </a:r>
            <a:endParaRPr lang="en-US" dirty="0" smtClean="0"/>
          </a:p>
          <a:p>
            <a:r>
              <a:rPr lang="en-US" dirty="0" smtClean="0"/>
              <a:t>68</a:t>
            </a:r>
            <a:r>
              <a:rPr lang="zh-CN" altLang="en-US" dirty="0" smtClean="0"/>
              <a:t>个关键点</a:t>
            </a:r>
            <a:endParaRPr lang="en-US" altLang="zh-CN" dirty="0" smtClean="0"/>
          </a:p>
          <a:p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658" y="3543455"/>
            <a:ext cx="7934325" cy="30099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6496" y="169392"/>
            <a:ext cx="3042611" cy="48092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93833" y="5208149"/>
            <a:ext cx="31375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5"/>
                </a:solidFill>
              </a:rPr>
              <a:t>基于</a:t>
            </a:r>
            <a:r>
              <a:rPr lang="en-US" altLang="zh-CN" sz="2400" dirty="0" err="1" smtClean="0">
                <a:solidFill>
                  <a:schemeClr val="accent5"/>
                </a:solidFill>
              </a:rPr>
              <a:t>face_recognition</a:t>
            </a:r>
            <a:r>
              <a:rPr lang="zh-CN" altLang="en-US" sz="2400" dirty="0" smtClean="0">
                <a:solidFill>
                  <a:schemeClr val="accent5"/>
                </a:solidFill>
              </a:rPr>
              <a:t>识别出的嘴唇的关键点生成的嘴唇区域分割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453" y="169392"/>
            <a:ext cx="2991000" cy="311612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352986" y="5669813"/>
            <a:ext cx="206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组内已经有现成的面部分割算法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994" y="298815"/>
            <a:ext cx="3678347" cy="455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33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颜色提取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每个样本提取出</a:t>
            </a:r>
            <a:r>
              <a:rPr lang="en-US" altLang="zh-CN" dirty="0" smtClean="0"/>
              <a:t>5*6</a:t>
            </a:r>
            <a:r>
              <a:rPr lang="zh-CN" altLang="en-US" dirty="0" smtClean="0"/>
              <a:t>维的特征向量（人脸的五个区域）、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基于特征向量进行疾病的分类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5" y="2757375"/>
            <a:ext cx="5410701" cy="391269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361" y="3816677"/>
            <a:ext cx="3952874" cy="31861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055" y="91149"/>
            <a:ext cx="5062585" cy="372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72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颜色提取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669881" y="1259906"/>
            <a:ext cx="10852237" cy="5041355"/>
          </a:xfrm>
        </p:spPr>
        <p:txBody>
          <a:bodyPr/>
          <a:lstStyle/>
          <a:p>
            <a:r>
              <a:rPr lang="zh-CN" altLang="en-US" i="1" dirty="0"/>
              <a:t>基于面部图像特征融合的中医望诊面色分类研究</a:t>
            </a:r>
            <a:r>
              <a:rPr lang="en-US" altLang="zh-CN" i="1" dirty="0"/>
              <a:t>_</a:t>
            </a:r>
            <a:r>
              <a:rPr lang="zh-CN" altLang="en-US" i="1" dirty="0"/>
              <a:t>林怡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可以把肤色和眼睛、眉 毛等背景分离开，经过判断后再计算皮肤块的平均 Ｒ</a:t>
            </a:r>
            <a:r>
              <a:rPr lang="en-US" altLang="zh-CN" dirty="0"/>
              <a:t>GB </a:t>
            </a:r>
            <a:r>
              <a:rPr lang="zh-CN" altLang="en-US" dirty="0"/>
              <a:t>值，再根据相关理论，可将 Ｒ</a:t>
            </a:r>
            <a:r>
              <a:rPr lang="en-US" altLang="zh-CN" dirty="0"/>
              <a:t>GB </a:t>
            </a:r>
            <a:r>
              <a:rPr lang="zh-CN" altLang="en-US" dirty="0"/>
              <a:t>颜色空间转换 到 </a:t>
            </a:r>
            <a:r>
              <a:rPr lang="en-US" altLang="zh-CN" dirty="0"/>
              <a:t>HSV </a:t>
            </a:r>
            <a:r>
              <a:rPr lang="zh-CN" altLang="en-US" dirty="0"/>
              <a:t>颜色空间和 </a:t>
            </a:r>
            <a:r>
              <a:rPr lang="en-US" altLang="zh-CN" dirty="0"/>
              <a:t>Lab </a:t>
            </a:r>
            <a:r>
              <a:rPr lang="zh-CN" altLang="en-US" dirty="0"/>
              <a:t>颜色空间。</a:t>
            </a:r>
            <a:endParaRPr lang="en-US" altLang="zh-CN" dirty="0"/>
          </a:p>
          <a:p>
            <a:r>
              <a:rPr lang="zh-CN" altLang="en-US" dirty="0" smtClean="0"/>
              <a:t>颜色</a:t>
            </a:r>
            <a:r>
              <a:rPr lang="zh-CN" altLang="en-US" dirty="0"/>
              <a:t>分类，赤、黄、 白、黑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562" y="3250280"/>
            <a:ext cx="4019550" cy="2619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77" y="3744577"/>
            <a:ext cx="380047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59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295999"/>
            <a:ext cx="10852237" cy="5041355"/>
          </a:xfrm>
        </p:spPr>
        <p:txBody>
          <a:bodyPr/>
          <a:lstStyle/>
          <a:p>
            <a:r>
              <a:rPr lang="zh-CN" altLang="en-US" i="1" dirty="0"/>
              <a:t>基于融合的方法进行人脸光泽分析</a:t>
            </a:r>
            <a:r>
              <a:rPr lang="en-US" altLang="zh-CN" i="1" dirty="0"/>
              <a:t>_</a:t>
            </a:r>
            <a:r>
              <a:rPr lang="zh-CN" altLang="en-US" i="1" dirty="0" smtClean="0"/>
              <a:t>王鑫</a:t>
            </a:r>
            <a:endParaRPr lang="en-US" altLang="zh-CN" i="1" dirty="0"/>
          </a:p>
          <a:p>
            <a:r>
              <a:rPr lang="zh-CN" altLang="en-US" dirty="0" smtClean="0"/>
              <a:t>上 </a:t>
            </a:r>
            <a:r>
              <a:rPr lang="zh-CN" altLang="en-US" dirty="0"/>
              <a:t>额，左脸颊，右脸颊，下颌，包括鼻子的中间区域的五 个</a:t>
            </a:r>
            <a:r>
              <a:rPr lang="zh-CN" altLang="en-US" dirty="0" smtClean="0"/>
              <a:t>区域进行特征提取</a:t>
            </a:r>
            <a:r>
              <a:rPr lang="zh-CN" altLang="en-US" dirty="0"/>
              <a:t>（</a:t>
            </a:r>
            <a:r>
              <a:rPr lang="en-US" altLang="zh-CN" dirty="0"/>
              <a:t>PCA</a:t>
            </a:r>
            <a:r>
              <a:rPr lang="zh-CN" altLang="en-US" dirty="0"/>
              <a:t>）</a:t>
            </a:r>
            <a:endParaRPr lang="en-US" altLang="zh-CN" i="1" dirty="0"/>
          </a:p>
          <a:p>
            <a:r>
              <a:rPr lang="zh-CN" altLang="en-US" dirty="0" smtClean="0"/>
              <a:t>和分类（朴素贝叶斯）</a:t>
            </a:r>
            <a:endParaRPr lang="en-US" altLang="zh-CN" i="1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67" y="2682543"/>
            <a:ext cx="5010150" cy="3562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402" y="4463718"/>
            <a:ext cx="5038725" cy="22574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32645"/>
            <a:ext cx="4357938" cy="247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76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光泽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i="1" dirty="0"/>
              <a:t>application of PCA </a:t>
            </a:r>
            <a:r>
              <a:rPr lang="en-US" altLang="zh-CN" i="1" dirty="0" err="1"/>
              <a:t>ans</a:t>
            </a:r>
            <a:r>
              <a:rPr lang="en-US" altLang="zh-CN" i="1" dirty="0"/>
              <a:t> LDA methods on gloss recognition research in TCM </a:t>
            </a:r>
            <a:r>
              <a:rPr lang="en-US" altLang="zh-CN" i="1" dirty="0" err="1"/>
              <a:t>complexinspection</a:t>
            </a:r>
            <a:endParaRPr lang="en-US" altLang="zh-CN" i="1" dirty="0"/>
          </a:p>
          <a:p>
            <a:r>
              <a:rPr lang="en-US" altLang="zh-CN" dirty="0"/>
              <a:t>PCA</a:t>
            </a:r>
            <a:r>
              <a:rPr lang="zh-CN" altLang="en-US" dirty="0"/>
              <a:t>、</a:t>
            </a:r>
            <a:r>
              <a:rPr lang="en-US" altLang="zh-CN" dirty="0"/>
              <a:t>LDA</a:t>
            </a:r>
            <a:r>
              <a:rPr lang="zh-CN" altLang="en-US" dirty="0"/>
              <a:t>特征提取并分类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PCA</a:t>
            </a:r>
            <a:r>
              <a:rPr lang="zh-CN" altLang="en-US" dirty="0"/>
              <a:t>主成分分析（数据降维，只保留包含绝大部分方差的维度特征）</a:t>
            </a:r>
            <a:endParaRPr lang="en-US" altLang="zh-CN" dirty="0"/>
          </a:p>
          <a:p>
            <a:r>
              <a:rPr lang="zh-CN" altLang="en-US" dirty="0" smtClean="0"/>
              <a:t>光泽指数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983" y="1590835"/>
            <a:ext cx="4191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1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朴素贝叶斯</a:t>
            </a:r>
            <a:endParaRPr lang="en-US" altLang="zh-CN" dirty="0" smtClean="0"/>
          </a:p>
          <a:p>
            <a:r>
              <a:rPr lang="en-US" altLang="zh-CN" dirty="0" smtClean="0"/>
              <a:t>SVM</a:t>
            </a:r>
          </a:p>
          <a:p>
            <a:r>
              <a:rPr lang="en-US" altLang="zh-CN" dirty="0" smtClean="0"/>
              <a:t>KNN</a:t>
            </a:r>
          </a:p>
          <a:p>
            <a:r>
              <a:rPr lang="zh-CN" altLang="en-US" dirty="0"/>
              <a:t>神经网络</a:t>
            </a:r>
          </a:p>
        </p:txBody>
      </p:sp>
    </p:spTree>
    <p:extLst>
      <p:ext uri="{BB962C8B-B14F-4D97-AF65-F5344CB8AC3E}">
        <p14:creationId xmlns:p14="http://schemas.microsoft.com/office/powerpoint/2010/main" val="116951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论文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颜色提取：</a:t>
            </a:r>
            <a:r>
              <a:rPr lang="zh-CN" altLang="en-US" dirty="0"/>
              <a:t>面部特征分析及其在疾病诊断中的应用</a:t>
            </a:r>
            <a:r>
              <a:rPr lang="en-US" altLang="zh-CN" dirty="0"/>
              <a:t>_</a:t>
            </a:r>
            <a:r>
              <a:rPr lang="zh-CN" altLang="en-US" dirty="0"/>
              <a:t>赵艳坤、面部颜色空间分析及其在疾病诊断中的应用</a:t>
            </a:r>
            <a:r>
              <a:rPr lang="en-US" altLang="zh-CN" dirty="0"/>
              <a:t>_</a:t>
            </a:r>
            <a:r>
              <a:rPr lang="zh-CN" altLang="en-US" dirty="0"/>
              <a:t>陈淑华、基于面部图像特征融合的中医望诊面色分类研究</a:t>
            </a:r>
            <a:r>
              <a:rPr lang="en-US" altLang="zh-CN" dirty="0"/>
              <a:t>_</a:t>
            </a:r>
            <a:r>
              <a:rPr lang="zh-CN" altLang="en-US" dirty="0" smtClean="0"/>
              <a:t>林怡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光泽：</a:t>
            </a:r>
            <a:r>
              <a:rPr lang="en-US" altLang="zh-CN" dirty="0"/>
              <a:t> application of PCA </a:t>
            </a:r>
            <a:r>
              <a:rPr lang="en-US" altLang="zh-CN" dirty="0" err="1"/>
              <a:t>ans</a:t>
            </a:r>
            <a:r>
              <a:rPr lang="en-US" altLang="zh-CN" dirty="0"/>
              <a:t> LDA methods on gloss recognition research in TCM </a:t>
            </a:r>
            <a:r>
              <a:rPr lang="en-US" altLang="zh-CN" dirty="0" err="1" smtClean="0"/>
              <a:t>complexinspection</a:t>
            </a:r>
            <a:r>
              <a:rPr lang="zh-CN" altLang="en-US" dirty="0"/>
              <a:t>、基于</a:t>
            </a:r>
            <a:r>
              <a:rPr lang="en-US" altLang="zh-CN" dirty="0"/>
              <a:t>PLS_LDA</a:t>
            </a:r>
            <a:r>
              <a:rPr lang="zh-CN" altLang="en-US" dirty="0"/>
              <a:t>的中医面诊光泽识别研究</a:t>
            </a:r>
            <a:r>
              <a:rPr lang="en-US" altLang="zh-CN" dirty="0"/>
              <a:t>_</a:t>
            </a:r>
            <a:r>
              <a:rPr lang="zh-CN" altLang="en-US" dirty="0"/>
              <a:t>李福凤、基于</a:t>
            </a:r>
            <a:r>
              <a:rPr lang="en-US" altLang="zh-CN" dirty="0" err="1"/>
              <a:t>Retinex</a:t>
            </a:r>
            <a:r>
              <a:rPr lang="zh-CN" altLang="en-US" dirty="0"/>
              <a:t>图像增强算法的面部皮肤光泽度评价研究</a:t>
            </a:r>
            <a:r>
              <a:rPr lang="en-US" altLang="zh-CN" dirty="0"/>
              <a:t>_</a:t>
            </a:r>
            <a:r>
              <a:rPr lang="zh-CN" altLang="en-US" dirty="0"/>
              <a:t>焦志鑫、基于融合的方法进行人脸光泽分析</a:t>
            </a:r>
            <a:r>
              <a:rPr lang="en-US" altLang="zh-CN" dirty="0"/>
              <a:t>_</a:t>
            </a:r>
            <a:r>
              <a:rPr lang="zh-CN" altLang="en-US" dirty="0" smtClean="0"/>
              <a:t>王鑫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舌头：</a:t>
            </a:r>
            <a:r>
              <a:rPr lang="zh-CN" altLang="en-US" dirty="0"/>
              <a:t>舌象裂纹识别研究</a:t>
            </a:r>
            <a:r>
              <a:rPr lang="en-US" altLang="zh-CN" dirty="0"/>
              <a:t>_</a:t>
            </a:r>
            <a:r>
              <a:rPr lang="zh-CN" altLang="en-US" dirty="0"/>
              <a:t>万</a:t>
            </a:r>
            <a:r>
              <a:rPr lang="zh-CN" altLang="en-US" dirty="0" smtClean="0"/>
              <a:t>超、</a:t>
            </a:r>
            <a:r>
              <a:rPr lang="zh-CN" altLang="en-US" dirty="0"/>
              <a:t>计算机舌诊中舌体分割与纹理分类研究、中医舌诊方法现代研究进展</a:t>
            </a:r>
            <a:r>
              <a:rPr lang="en-US" altLang="zh-CN" dirty="0"/>
              <a:t>_</a:t>
            </a:r>
            <a:r>
              <a:rPr lang="zh-CN" altLang="en-US" dirty="0"/>
              <a:t>冯宇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660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下周计划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进一步调研论文（舌部为主）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/>
              <a:t>舌</a:t>
            </a:r>
            <a:r>
              <a:rPr lang="zh-CN" altLang="en-US" dirty="0" smtClean="0"/>
              <a:t>部提取</a:t>
            </a:r>
            <a:r>
              <a:rPr lang="zh-CN" altLang="en-US" dirty="0" smtClean="0"/>
              <a:t>工具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开始准备做开题</a:t>
            </a:r>
            <a:r>
              <a:rPr lang="en-US" altLang="zh-CN" dirty="0" smtClean="0"/>
              <a:t>PPT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90035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889</Words>
  <Application>Microsoft Office PowerPoint</Application>
  <PresentationFormat>宽屏</PresentationFormat>
  <Paragraphs>119</Paragraphs>
  <Slides>17</Slides>
  <Notes>1</Notes>
  <HiddenSlides>4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微软雅黑</vt:lpstr>
      <vt:lpstr>Arial</vt:lpstr>
      <vt:lpstr>Office 主题​​</vt:lpstr>
      <vt:lpstr>Week2</vt:lpstr>
      <vt:lpstr>本周工作</vt:lpstr>
      <vt:lpstr>PowerPoint 演示文稿</vt:lpstr>
      <vt:lpstr>研究内容1</vt:lpstr>
      <vt:lpstr>研究内容2</vt:lpstr>
      <vt:lpstr>研究内容3</vt:lpstr>
      <vt:lpstr>PowerPoint 演示文稿</vt:lpstr>
      <vt:lpstr>分类结果</vt:lpstr>
      <vt:lpstr>面部关键点提取和区域分割</vt:lpstr>
      <vt:lpstr>PowerPoint 演示文稿</vt:lpstr>
      <vt:lpstr>颜色提取</vt:lpstr>
      <vt:lpstr>颜色提取</vt:lpstr>
      <vt:lpstr>光泽</vt:lpstr>
      <vt:lpstr>光泽</vt:lpstr>
      <vt:lpstr>分类器</vt:lpstr>
      <vt:lpstr>论文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常 然</cp:lastModifiedBy>
  <cp:revision>66</cp:revision>
  <dcterms:created xsi:type="dcterms:W3CDTF">2019-06-19T02:08:00Z</dcterms:created>
  <dcterms:modified xsi:type="dcterms:W3CDTF">2020-12-11T01:14:27Z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